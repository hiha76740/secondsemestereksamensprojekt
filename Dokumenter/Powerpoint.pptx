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5" r:id="rId3"/>
    <p:sldId id="257" r:id="rId4"/>
    <p:sldId id="263" r:id="rId5"/>
    <p:sldId id="258" r:id="rId6"/>
    <p:sldId id="264" r:id="rId7"/>
    <p:sldId id="259" r:id="rId8"/>
    <p:sldId id="260" r:id="rId9"/>
    <p:sldId id="261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1CEB2-C201-40D6-98C8-E1936CCEC6C1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76533-93FC-4D57-8A0F-AC113017DA2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0487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Kirstine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5883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Christian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121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Nicolai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2823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Henrik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70694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Henrik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82808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Christian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90413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Nicolai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0393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Kirstine </a:t>
            </a:r>
            <a:r>
              <a:rPr lang="da-DK" dirty="0" err="1"/>
              <a:t>use</a:t>
            </a:r>
            <a:r>
              <a:rPr lang="da-DK" dirty="0"/>
              <a:t> case diagram, </a:t>
            </a:r>
            <a:r>
              <a:rPr lang="da-DK"/>
              <a:t>Henrik klasse diagram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9400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Nicolai tager de første 3, Christian tager de næste 3, Henrik tager de sidste 3 og Kirstine tager Gruppe samarbejdet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76533-93FC-4D57-8A0F-AC113017DA2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4887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501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8080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750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03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461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3249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911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696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232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1871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3297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381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1447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131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7952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410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31444-B6D6-4C94-B78B-EDF9BDA6F4B0}" type="datetimeFigureOut">
              <a:rPr lang="da-DK" smtClean="0"/>
              <a:t>15-06-2026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8B1AE8-B462-4221-B4FA-4F0F001FE85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081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C:\Temp\SecondSemesterEksamensProjekt\Dokumenter\Use%20case%20diagram.drawio.p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C:\Temp\SecondSemesterEksamensProjekt\Dokumenter\C4_L4_Code_Domain.drawio.p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FE1FF-3415-0930-271D-515273A09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241" y="1179326"/>
            <a:ext cx="8728587" cy="16463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a-DK" dirty="0"/>
              <a:t>BookRight Klinik &amp; Wellness 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0864E73-607E-89FA-0476-82B0DAEB0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9639" y="3429000"/>
            <a:ext cx="4515189" cy="1310148"/>
          </a:xfrm>
        </p:spPr>
        <p:txBody>
          <a:bodyPr>
            <a:normAutofit/>
          </a:bodyPr>
          <a:lstStyle/>
          <a:p>
            <a:r>
              <a:rPr lang="da-DK" dirty="0"/>
              <a:t>Kirstine, Henrik, Nicolai H. og Christian F.</a:t>
            </a:r>
          </a:p>
          <a:p>
            <a:endParaRPr lang="da-DK" dirty="0"/>
          </a:p>
          <a:p>
            <a:r>
              <a:rPr lang="da-DK" dirty="0"/>
              <a:t>				Datamatiker - DMVE251 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2579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2B957-5B94-514B-2C9C-F0F8BE20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4000" dirty="0"/>
              <a:t>Agenda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7D0349-48DF-0F0D-A924-5AF094039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Introduktion</a:t>
            </a:r>
          </a:p>
          <a:p>
            <a:r>
              <a:rPr lang="da-DK" dirty="0"/>
              <a:t>Problemstilling</a:t>
            </a:r>
          </a:p>
          <a:p>
            <a:r>
              <a:rPr lang="da-DK" dirty="0"/>
              <a:t>Scrum som systemudviklingsmetode</a:t>
            </a:r>
          </a:p>
          <a:p>
            <a:r>
              <a:rPr lang="da-DK" dirty="0"/>
              <a:t>Forretningsanalyse</a:t>
            </a:r>
          </a:p>
          <a:p>
            <a:r>
              <a:rPr lang="da-DK" dirty="0"/>
              <a:t>Kravspecifikation</a:t>
            </a:r>
          </a:p>
          <a:p>
            <a:r>
              <a:rPr lang="da-DK" dirty="0"/>
              <a:t>Diagrammer</a:t>
            </a:r>
          </a:p>
          <a:p>
            <a:r>
              <a:rPr lang="da-DK" dirty="0"/>
              <a:t>Køre programmet</a:t>
            </a:r>
          </a:p>
          <a:p>
            <a:r>
              <a:rPr lang="da-DK" dirty="0"/>
              <a:t>Perspektivering</a:t>
            </a:r>
          </a:p>
          <a:p>
            <a:r>
              <a:rPr lang="da-DK" dirty="0"/>
              <a:t>Konklusion</a:t>
            </a:r>
          </a:p>
        </p:txBody>
      </p:sp>
    </p:spTree>
    <p:extLst>
      <p:ext uri="{BB962C8B-B14F-4D97-AF65-F5344CB8AC3E}">
        <p14:creationId xmlns:p14="http://schemas.microsoft.com/office/powerpoint/2010/main" val="2290430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7B870-9282-91A8-1AD9-D5F90C81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/>
              <a:t>Introduktion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59520C-F70E-2427-8933-3F99AE49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3620"/>
            <a:ext cx="10029996" cy="49276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a-DK" sz="1600" dirty="0"/>
              <a:t>BookRight Klinik &amp; Wellness ApS 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Wellnessvirksomhed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3 klinikker i Vejle-området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1 receptionist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12 Behandlere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5 Behandlingstyper</a:t>
            </a:r>
          </a:p>
          <a:p>
            <a:pPr lvl="3">
              <a:lnSpc>
                <a:spcPct val="150000"/>
              </a:lnSpc>
            </a:pPr>
            <a:r>
              <a:rPr lang="da-DK" sz="1600" dirty="0"/>
              <a:t>Fysioterapi, Sportsmassage, Akupunktur, Kostvejledning, Holdtræning/genoptræning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Oplever vækst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Ca. 400 kunder månedligt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Forventer en fjerde klinik inden for det kommende år</a:t>
            </a:r>
          </a:p>
        </p:txBody>
      </p:sp>
    </p:spTree>
    <p:extLst>
      <p:ext uri="{BB962C8B-B14F-4D97-AF65-F5344CB8AC3E}">
        <p14:creationId xmlns:p14="http://schemas.microsoft.com/office/powerpoint/2010/main" val="85462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1A555-C21E-8BD3-90E8-555113C4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4000" dirty="0"/>
              <a:t>Problemstilling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580D548-2392-7158-FDB6-FF340693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9715364" cy="457855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a-DK" sz="1600" dirty="0"/>
              <a:t>Nuværende løsning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Manuel proces baseret på en kombination af: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Telefonisk booking, fælles regneark og håndskrevne noter i receptionen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Problematikker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Dobbeltbookinger, tabte aftaler, manglende opfølgning, manglende overblik og tidskrævende administration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Ca. 15 timers administration ugentligt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Estimeret tab på 8–10 %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277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823AF-E149-59E0-A77B-2F749268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/>
              <a:t>Scrum som systemudviklingsmetode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DD24B45-31AB-3B61-E665-B8199DF93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7580"/>
            <a:ext cx="8977943" cy="4927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a-DK" sz="1600" dirty="0"/>
              <a:t>Henrik som Scrum master med ansvar for bl.a.: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Koordinering, opgavefordeling, Code Review, opfølgning og sikre gruppens fremdrift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Jan (Underviser) som Product Owner: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Interne vurderinger, kravafklaring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Arbejdet agilt og anvendt centrale Scrum-elementer som: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Product Backlog, Sprints, Sprint Planning, Daily Stand-ups, Sprint Review og Sprint Retrospective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Case-krav nedbrudt i: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Epics, Features, User Stories og Tasks</a:t>
            </a:r>
          </a:p>
        </p:txBody>
      </p:sp>
    </p:spTree>
    <p:extLst>
      <p:ext uri="{BB962C8B-B14F-4D97-AF65-F5344CB8AC3E}">
        <p14:creationId xmlns:p14="http://schemas.microsoft.com/office/powerpoint/2010/main" val="213061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8AF69A-073F-3441-6BCA-0334D89D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dirty="0"/>
              <a:t>Scrum-processen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D544FB-7216-BFF8-F05B-29EB4E65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9275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a-DK" sz="1600" dirty="0"/>
              <a:t>Metoden er tilpasset vores individuelles behov, arbejdsform og geografiske forhold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Iterative udviklingsarbejde er struktureret gennem: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Sprints: 6 sprints af 1 uges varighed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Sprint Planning: Hver mandag ved fysisk fremmøde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Daily Stand-ups: Hver morgen kl. 9 over Discord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Sprint Review og Retrospective: Hver fredag ved fysisk fremmøde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1.1 Samtaler: Afholdt af Henrik hver fredag ved fysisk fremmøde</a:t>
            </a:r>
          </a:p>
          <a:p>
            <a:pPr lvl="1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66515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4DE2C-1FF1-2B30-6BDF-99CC119A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4000" dirty="0"/>
              <a:t>Forretningsanalyse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A0FD022-F7C8-9F14-ACEC-751922ED8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1222"/>
            <a:ext cx="8596668" cy="4927600"/>
          </a:xfrm>
        </p:spPr>
        <p:txBody>
          <a:bodyPr>
            <a:normAutofit/>
          </a:bodyPr>
          <a:lstStyle/>
          <a:p>
            <a:r>
              <a:rPr lang="da-DK" sz="1600" dirty="0"/>
              <a:t>AS-IS-analyse</a:t>
            </a:r>
          </a:p>
          <a:p>
            <a:pPr lvl="1"/>
            <a:r>
              <a:rPr lang="da-DK" dirty="0"/>
              <a:t>Identificere deres nuværende arbejdsproces og centrale udfordringer</a:t>
            </a:r>
          </a:p>
          <a:p>
            <a:r>
              <a:rPr lang="da-DK" sz="1600" dirty="0"/>
              <a:t>TO-BE-analyse</a:t>
            </a:r>
          </a:p>
          <a:p>
            <a:pPr lvl="1"/>
            <a:r>
              <a:rPr lang="da-DK" dirty="0"/>
              <a:t>Beskrive, hvordan et digitalt administrationssystem kan understøtte en mere sammenhængende og effektiv fremtidig arbejdsproces.</a:t>
            </a:r>
          </a:p>
          <a:p>
            <a:r>
              <a:rPr lang="da-DK" sz="1600" dirty="0"/>
              <a:t>SWOT-analyse</a:t>
            </a:r>
          </a:p>
          <a:p>
            <a:pPr lvl="1"/>
            <a:r>
              <a:rPr lang="da-DK" dirty="0"/>
              <a:t>Identificere interne styrker og svagheder samt eksterne muligheder og trusler</a:t>
            </a:r>
          </a:p>
          <a:p>
            <a:r>
              <a:rPr lang="da-DK" sz="1600" dirty="0"/>
              <a:t>Interessentanalyse</a:t>
            </a:r>
          </a:p>
          <a:p>
            <a:pPr lvl="1"/>
            <a:r>
              <a:rPr lang="da-DK" dirty="0"/>
              <a:t>Centrale aktører og deres behov identificeres og vurderes</a:t>
            </a:r>
          </a:p>
          <a:p>
            <a:r>
              <a:rPr lang="da-DK" sz="1600" dirty="0"/>
              <a:t>Double Diamond</a:t>
            </a:r>
          </a:p>
          <a:p>
            <a:pPr lvl="1"/>
            <a:r>
              <a:rPr lang="da-DK" dirty="0"/>
              <a:t>Anvendt som supplerende refleksionsramme med faserne:</a:t>
            </a:r>
          </a:p>
          <a:p>
            <a:pPr lvl="1"/>
            <a:r>
              <a:rPr lang="da-DK" dirty="0" err="1"/>
              <a:t>Discover</a:t>
            </a:r>
            <a:r>
              <a:rPr lang="da-DK" dirty="0"/>
              <a:t>, </a:t>
            </a:r>
            <a:r>
              <a:rPr lang="da-DK" dirty="0" err="1"/>
              <a:t>Define</a:t>
            </a:r>
            <a:r>
              <a:rPr lang="da-DK" dirty="0"/>
              <a:t>, </a:t>
            </a:r>
            <a:r>
              <a:rPr lang="da-DK" dirty="0" err="1"/>
              <a:t>Develop</a:t>
            </a:r>
            <a:r>
              <a:rPr lang="da-DK" dirty="0"/>
              <a:t> og Deliver</a:t>
            </a:r>
          </a:p>
          <a:p>
            <a:pPr lvl="1"/>
            <a:r>
              <a:rPr lang="da-DK" dirty="0"/>
              <a:t>Synliggøre sammenhængen mellem de identificerede problemer og den udviklede løsning</a:t>
            </a:r>
          </a:p>
        </p:txBody>
      </p:sp>
    </p:spTree>
    <p:extLst>
      <p:ext uri="{BB962C8B-B14F-4D97-AF65-F5344CB8AC3E}">
        <p14:creationId xmlns:p14="http://schemas.microsoft.com/office/powerpoint/2010/main" val="220577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588A41-528B-7C5D-5BE6-72A8DEF3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4000" dirty="0"/>
              <a:t>Kravspecifikation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CB8F36-4FA0-7C8A-0674-711CABA23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7265"/>
            <a:ext cx="8596668" cy="492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a-DK" sz="1600" dirty="0"/>
              <a:t>Struktureret kravarbejdet i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Funktionelle krav: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Handlinger systemet skal kunne understøtte</a:t>
            </a:r>
          </a:p>
          <a:p>
            <a:pPr lvl="3">
              <a:lnSpc>
                <a:spcPct val="150000"/>
              </a:lnSpc>
            </a:pPr>
            <a:r>
              <a:rPr lang="da-DK" sz="1600" dirty="0"/>
              <a:t>F.eks. bookinghåndtering og kunderegistrering</a:t>
            </a:r>
          </a:p>
          <a:p>
            <a:pPr lvl="1">
              <a:lnSpc>
                <a:spcPct val="150000"/>
              </a:lnSpc>
            </a:pPr>
            <a:r>
              <a:rPr lang="da-DK" dirty="0"/>
              <a:t>Ikke funktionelle krav:</a:t>
            </a:r>
          </a:p>
          <a:p>
            <a:pPr lvl="2">
              <a:lnSpc>
                <a:spcPct val="150000"/>
              </a:lnSpc>
            </a:pPr>
            <a:r>
              <a:rPr lang="da-DK" sz="1600" dirty="0"/>
              <a:t>Løsningens kvalitetsmæssige egenskaber</a:t>
            </a:r>
          </a:p>
          <a:p>
            <a:pPr lvl="3">
              <a:lnSpc>
                <a:spcPct val="150000"/>
              </a:lnSpc>
            </a:pPr>
            <a:r>
              <a:rPr lang="da-DK" sz="1600" dirty="0"/>
              <a:t>F.eks. Brugervenlighed og testbarhed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Kategoriseret kravene med FURPS+ </a:t>
            </a:r>
          </a:p>
          <a:p>
            <a:pPr>
              <a:lnSpc>
                <a:spcPct val="150000"/>
              </a:lnSpc>
            </a:pPr>
            <a:r>
              <a:rPr lang="da-DK" sz="1600" dirty="0"/>
              <a:t>Prioriteret kravene med </a:t>
            </a:r>
            <a:r>
              <a:rPr lang="da-DK" sz="1600" dirty="0" err="1"/>
              <a:t>MoSCoW</a:t>
            </a:r>
            <a:endParaRPr lang="da-DK" sz="1600" dirty="0"/>
          </a:p>
          <a:p>
            <a:pPr lvl="1">
              <a:lnSpc>
                <a:spcPct val="150000"/>
              </a:lnSpc>
            </a:pPr>
            <a:r>
              <a:rPr lang="da-DK" dirty="0"/>
              <a:t>Sikre fokus på de mest centrale funktioner</a:t>
            </a:r>
          </a:p>
        </p:txBody>
      </p:sp>
    </p:spTree>
    <p:extLst>
      <p:ext uri="{BB962C8B-B14F-4D97-AF65-F5344CB8AC3E}">
        <p14:creationId xmlns:p14="http://schemas.microsoft.com/office/powerpoint/2010/main" val="2955145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E7783-FDC2-1ED8-8703-7884A86C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Diagrammer</a:t>
            </a:r>
          </a:p>
        </p:txBody>
      </p:sp>
      <p:sp>
        <p:nvSpPr>
          <p:cNvPr id="12" name="Pladsholder til indhold 9">
            <a:extLst>
              <a:ext uri="{FF2B5EF4-FFF2-40B4-BE49-F238E27FC236}">
                <a16:creationId xmlns:a16="http://schemas.microsoft.com/office/drawing/2014/main" id="{8F2A9D6B-0B78-55A1-0A96-FFB558A1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92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a-DK" dirty="0"/>
              <a:t>Use case-diagram</a:t>
            </a:r>
          </a:p>
          <a:p>
            <a:pPr lvl="1">
              <a:lnSpc>
                <a:spcPct val="150000"/>
              </a:lnSpc>
            </a:pPr>
            <a:r>
              <a:rPr lang="da-DK" sz="1800" dirty="0"/>
              <a:t>Synliggøre systemets centrale funktioner set fra receptionistens perspektiv</a:t>
            </a:r>
          </a:p>
          <a:p>
            <a:pPr lvl="1">
              <a:lnSpc>
                <a:spcPct val="150000"/>
              </a:lnSpc>
            </a:pPr>
            <a:r>
              <a:rPr lang="da-DK" sz="1800" dirty="0">
                <a:hlinkClick r:id="rId3" action="ppaction://hlinkfile"/>
              </a:rPr>
              <a:t>Link</a:t>
            </a:r>
            <a:endParaRPr lang="da-DK" sz="1800" dirty="0"/>
          </a:p>
          <a:p>
            <a:pPr>
              <a:lnSpc>
                <a:spcPct val="150000"/>
              </a:lnSpc>
            </a:pPr>
            <a:r>
              <a:rPr lang="da-DK" dirty="0"/>
              <a:t>Klassediagram</a:t>
            </a:r>
          </a:p>
          <a:p>
            <a:pPr lvl="1">
              <a:lnSpc>
                <a:spcPct val="150000"/>
              </a:lnSpc>
            </a:pPr>
            <a:r>
              <a:rPr lang="da-DK" sz="1800" dirty="0"/>
              <a:t>Synliggøre systemets centrale domæneobjekter og deres relationer</a:t>
            </a:r>
          </a:p>
          <a:p>
            <a:pPr lvl="1">
              <a:lnSpc>
                <a:spcPct val="150000"/>
              </a:lnSpc>
            </a:pPr>
            <a:r>
              <a:rPr lang="da-DK" sz="1800" dirty="0">
                <a:hlinkClick r:id="rId4" action="ppaction://hlinkfile"/>
              </a:rPr>
              <a:t>Link</a:t>
            </a:r>
            <a:endParaRPr lang="da-DK" sz="1800" dirty="0"/>
          </a:p>
        </p:txBody>
      </p:sp>
    </p:spTree>
    <p:extLst>
      <p:ext uri="{BB962C8B-B14F-4D97-AF65-F5344CB8AC3E}">
        <p14:creationId xmlns:p14="http://schemas.microsoft.com/office/powerpoint/2010/main" val="124445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9CEA7-05E9-4B4D-7B78-FD1B6DA4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865239"/>
          </a:xfrm>
        </p:spPr>
        <p:txBody>
          <a:bodyPr/>
          <a:lstStyle/>
          <a:p>
            <a:r>
              <a:rPr lang="da-DK" dirty="0"/>
              <a:t>Perspektivering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686E3D8-7134-4F38-B308-059D6A10A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6396"/>
            <a:ext cx="8596668" cy="5383162"/>
          </a:xfrm>
        </p:spPr>
        <p:txBody>
          <a:bodyPr>
            <a:normAutofit fontScale="77500" lnSpcReduction="20000"/>
          </a:bodyPr>
          <a:lstStyle/>
          <a:p>
            <a:r>
              <a:rPr lang="da-DK" sz="2100" dirty="0"/>
              <a:t>Mest oplagte videreudviklingstiltag:  </a:t>
            </a:r>
          </a:p>
          <a:p>
            <a:pPr lvl="1"/>
            <a:r>
              <a:rPr lang="da-DK" sz="2100" dirty="0"/>
              <a:t>Liste problemer</a:t>
            </a:r>
          </a:p>
          <a:p>
            <a:pPr lvl="1"/>
            <a:r>
              <a:rPr lang="da-DK" sz="2100" dirty="0"/>
              <a:t>Fikse flere kald til databasen samtidigt</a:t>
            </a:r>
          </a:p>
          <a:p>
            <a:pPr lvl="1"/>
            <a:r>
              <a:rPr lang="da-DK" sz="2100" dirty="0"/>
              <a:t>Kalender- og belægningsoverblik</a:t>
            </a:r>
          </a:p>
          <a:p>
            <a:pPr lvl="1"/>
            <a:r>
              <a:rPr lang="da-DK" sz="2100" dirty="0"/>
              <a:t>Rapport funktion</a:t>
            </a:r>
          </a:p>
          <a:p>
            <a:pPr lvl="1"/>
            <a:r>
              <a:rPr lang="da-DK" sz="2100" dirty="0"/>
              <a:t>Betaling og fakturering</a:t>
            </a:r>
          </a:p>
          <a:p>
            <a:pPr lvl="1"/>
            <a:r>
              <a:rPr lang="da-DK" sz="2100" dirty="0"/>
              <a:t>Flere </a:t>
            </a:r>
            <a:r>
              <a:rPr lang="da-DK" sz="2100" dirty="0" err="1"/>
              <a:t>Queries</a:t>
            </a:r>
            <a:r>
              <a:rPr lang="da-DK" sz="2100" dirty="0"/>
              <a:t> og </a:t>
            </a:r>
            <a:r>
              <a:rPr lang="da-DK" sz="2100" dirty="0" err="1"/>
              <a:t>DTO’er</a:t>
            </a:r>
            <a:endParaRPr lang="da-DK" sz="2100" dirty="0"/>
          </a:p>
          <a:p>
            <a:pPr lvl="1"/>
            <a:r>
              <a:rPr lang="da-DK" sz="2100" dirty="0" err="1"/>
              <a:t>Strongly</a:t>
            </a:r>
            <a:r>
              <a:rPr lang="da-DK" sz="2100" dirty="0"/>
              <a:t> </a:t>
            </a:r>
            <a:r>
              <a:rPr lang="da-DK" sz="2100" dirty="0" err="1"/>
              <a:t>Typed</a:t>
            </a:r>
            <a:r>
              <a:rPr lang="da-DK" sz="2100" dirty="0"/>
              <a:t> </a:t>
            </a:r>
            <a:r>
              <a:rPr lang="da-DK" sz="2100" dirty="0" err="1"/>
              <a:t>ID’s</a:t>
            </a:r>
            <a:endParaRPr lang="da-DK" sz="2100" dirty="0"/>
          </a:p>
          <a:p>
            <a:pPr lvl="1"/>
            <a:r>
              <a:rPr lang="da-DK" sz="2100" dirty="0"/>
              <a:t>Grøn IT</a:t>
            </a:r>
          </a:p>
          <a:p>
            <a:pPr lvl="1"/>
            <a:r>
              <a:rPr lang="da-DK" sz="2100" dirty="0"/>
              <a:t>IT </a:t>
            </a:r>
            <a:r>
              <a:rPr lang="da-DK" sz="2100" dirty="0" err="1"/>
              <a:t>Governance</a:t>
            </a:r>
            <a:endParaRPr lang="da-DK" sz="2100" dirty="0"/>
          </a:p>
          <a:p>
            <a:r>
              <a:rPr lang="da-DK" sz="2100" dirty="0"/>
              <a:t>Gruppesamarbejdet:</a:t>
            </a:r>
          </a:p>
          <a:p>
            <a:pPr lvl="1"/>
            <a:r>
              <a:rPr lang="da-DK" sz="2100" dirty="0"/>
              <a:t>Forventningsafstemme</a:t>
            </a:r>
          </a:p>
          <a:p>
            <a:pPr lvl="1"/>
            <a:r>
              <a:rPr lang="da-DK" sz="2100" dirty="0"/>
              <a:t>Kommunikationsudfordringer</a:t>
            </a:r>
          </a:p>
          <a:p>
            <a:pPr lvl="2"/>
            <a:r>
              <a:rPr lang="da-DK" sz="2100" dirty="0"/>
              <a:t>Åbenhed omkring tvivl, fejl og behov for faglig sparring</a:t>
            </a:r>
          </a:p>
          <a:p>
            <a:pPr lvl="1"/>
            <a:r>
              <a:rPr lang="da-DK" sz="2100" dirty="0"/>
              <a:t>Kvalitetssikring</a:t>
            </a:r>
          </a:p>
          <a:p>
            <a:pPr lvl="1"/>
            <a:r>
              <a:rPr lang="da-DK" sz="2100" dirty="0"/>
              <a:t>Mere feature betonet SCRUM </a:t>
            </a:r>
            <a:r>
              <a:rPr lang="da-DK" sz="2100" dirty="0" err="1"/>
              <a:t>process</a:t>
            </a:r>
            <a:endParaRPr lang="da-DK" sz="2100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6032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DDE1B-0014-7F96-3C88-6639F9C7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Konklusion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AC798E4-3D73-46AC-7BC7-0DE58ABB5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Projektet resulterer i et fungerende grundsystem og den udviklede prototype har skabt grundlag for bl.a.:</a:t>
            </a:r>
          </a:p>
          <a:p>
            <a:pPr lvl="1"/>
            <a:r>
              <a:rPr lang="da-DK" dirty="0"/>
              <a:t>En mere struktureret bookinghåndtering, prisberegning og valideringer</a:t>
            </a:r>
          </a:p>
          <a:p>
            <a:endParaRPr lang="da-DK" dirty="0"/>
          </a:p>
          <a:p>
            <a:r>
              <a:rPr lang="da-DK" dirty="0"/>
              <a:t>Faglig udvikling</a:t>
            </a:r>
          </a:p>
          <a:p>
            <a:endParaRPr lang="da-DK" dirty="0"/>
          </a:p>
          <a:p>
            <a:r>
              <a:rPr lang="da-DK" dirty="0"/>
              <a:t>Udfordringerne betragtes ikke alene som problemer, men som erfaringer til fremtidige projekter.</a:t>
            </a:r>
          </a:p>
        </p:txBody>
      </p:sp>
    </p:spTree>
    <p:extLst>
      <p:ext uri="{BB962C8B-B14F-4D97-AF65-F5344CB8AC3E}">
        <p14:creationId xmlns:p14="http://schemas.microsoft.com/office/powerpoint/2010/main" val="39784843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ookRight">
      <a:dk1>
        <a:srgbClr val="2F5D50"/>
      </a:dk1>
      <a:lt1>
        <a:srgbClr val="F5F5F5"/>
      </a:lt1>
      <a:dk2>
        <a:srgbClr val="7AA883"/>
      </a:dk2>
      <a:lt2>
        <a:srgbClr val="F5F5F5"/>
      </a:lt2>
      <a:accent1>
        <a:srgbClr val="2F5D50"/>
      </a:accent1>
      <a:accent2>
        <a:srgbClr val="7AA883"/>
      </a:accent2>
      <a:accent3>
        <a:srgbClr val="F5F5F5"/>
      </a:accent3>
      <a:accent4>
        <a:srgbClr val="2F5D50"/>
      </a:accent4>
      <a:accent5>
        <a:srgbClr val="7AA883"/>
      </a:accent5>
      <a:accent6>
        <a:srgbClr val="F5F5F5"/>
      </a:accent6>
      <a:hlink>
        <a:srgbClr val="7AA883"/>
      </a:hlink>
      <a:folHlink>
        <a:srgbClr val="2F5D5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443</TotalTime>
  <Words>547</Words>
  <Application>Microsoft Office PowerPoint</Application>
  <PresentationFormat>Widescreen</PresentationFormat>
  <Paragraphs>123</Paragraphs>
  <Slides>11</Slides>
  <Notes>9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BookRight Klinik &amp; Wellness </vt:lpstr>
      <vt:lpstr>Agenda</vt:lpstr>
      <vt:lpstr>Introduktion</vt:lpstr>
      <vt:lpstr>Problemstilling</vt:lpstr>
      <vt:lpstr>Scrum som systemudviklingsmetode</vt:lpstr>
      <vt:lpstr>Scrum-processen</vt:lpstr>
      <vt:lpstr>Forretningsanalyse</vt:lpstr>
      <vt:lpstr>Kravspecifikation</vt:lpstr>
      <vt:lpstr>Diagrammer</vt:lpstr>
      <vt:lpstr>Perspektivering</vt:lpstr>
      <vt:lpstr>Konklusion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Henrik Ivang Hansen</dc:creator>
  <cp:lastModifiedBy>Henrik Ivang Hansen</cp:lastModifiedBy>
  <cp:revision>21</cp:revision>
  <dcterms:created xsi:type="dcterms:W3CDTF">2026-06-12T08:32:51Z</dcterms:created>
  <dcterms:modified xsi:type="dcterms:W3CDTF">2026-06-15T09:33:37Z</dcterms:modified>
</cp:coreProperties>
</file>